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370" y="2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7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namaste.ayush.gov.in/" TargetMode="External"/><Relationship Id="rId7" Type="http://schemas.openxmlformats.org/officeDocument/2006/relationships/hyperlink" Target="https://hl7.org/fhi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andbox.abdm.gov.in/" TargetMode="External"/><Relationship Id="rId5" Type="http://schemas.openxmlformats.org/officeDocument/2006/relationships/hyperlink" Target="https://mohfw.gov.in/" TargetMode="External"/><Relationship Id="rId4" Type="http://schemas.openxmlformats.org/officeDocument/2006/relationships/hyperlink" Target="https://icd.who.int/icdap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SIH25026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/>
              <a:t>Develop </a:t>
            </a:r>
            <a:r>
              <a:rPr lang="en-US" sz="1600" dirty="0"/>
              <a:t>API code to integrate NAMASTE and or the International Classification of Diseases (ICD-11) via the Traditional Medicine Module 2 (TM2) into existing EMR systems that comply with Electronic Health Record (EHR) Standards for </a:t>
            </a:r>
            <a:r>
              <a:rPr lang="en-US" sz="1600" dirty="0" smtClean="0"/>
              <a:t>India.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MedTech</a:t>
            </a:r>
            <a:r>
              <a:rPr lang="en-US" sz="2400" b="1" dirty="0" smtClean="0"/>
              <a:t> </a:t>
            </a:r>
            <a:r>
              <a:rPr lang="en-US" sz="2400" b="1" dirty="0"/>
              <a:t>/ </a:t>
            </a:r>
            <a:r>
              <a:rPr lang="en-US" sz="2400" b="1" dirty="0" err="1"/>
              <a:t>BioTech</a:t>
            </a:r>
            <a:r>
              <a:rPr lang="en-US" sz="2400" b="1" dirty="0"/>
              <a:t> / </a:t>
            </a:r>
            <a:r>
              <a:rPr lang="en-US" sz="2400" b="1" dirty="0" err="1"/>
              <a:t>HealthTech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	A </a:t>
            </a:r>
            <a:r>
              <a:rPr lang="en-US" sz="2400" dirty="0"/>
              <a:t>small API that links </a:t>
            </a:r>
            <a:r>
              <a:rPr lang="en-US" sz="2400" dirty="0" err="1"/>
              <a:t>Ayush</a:t>
            </a:r>
            <a:r>
              <a:rPr lang="en-US" sz="2400" dirty="0"/>
              <a:t> (NAMASTE) codes with WHO ICD-11 codes.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Doctors search </a:t>
            </a:r>
            <a:r>
              <a:rPr lang="en-US" sz="2400" dirty="0" err="1"/>
              <a:t>Ayush</a:t>
            </a:r>
            <a:r>
              <a:rPr lang="en-US" sz="2400" dirty="0"/>
              <a:t> terms, system shows matching global codes.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Stores both codes together in the patient record.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Plug-and-play, secure, and follows India’s health IT standards</a:t>
            </a:r>
            <a:r>
              <a:rPr lang="en-US" sz="2400" dirty="0" smtClean="0"/>
              <a:t>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400" dirty="0"/>
              <a:t>Connects traditional medicine to mainstream </a:t>
            </a:r>
            <a:r>
              <a:rPr lang="en-US" sz="2400" dirty="0" smtClean="0"/>
              <a:t>healthcare.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400" dirty="0" smtClean="0"/>
              <a:t>First </a:t>
            </a:r>
            <a:r>
              <a:rPr lang="en-US" sz="2400" dirty="0"/>
              <a:t>NAMASTE + ICD-11 bridge in one standard format.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 	Works </a:t>
            </a:r>
            <a:r>
              <a:rPr lang="en-US" sz="2400" dirty="0"/>
              <a:t>with any hospital </a:t>
            </a:r>
            <a:r>
              <a:rPr lang="en-US" sz="2400" dirty="0" smtClean="0"/>
              <a:t>EMR.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 Auto-updates </a:t>
            </a:r>
            <a:r>
              <a:rPr lang="en-US" sz="2400" dirty="0"/>
              <a:t>with new WHO codes.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6066" y="2448987"/>
            <a:ext cx="9385300" cy="372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We plan to use</a:t>
            </a:r>
            <a:r>
              <a:rPr lang="en-US" sz="2800" dirty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lightweight backend (</a:t>
            </a:r>
            <a:r>
              <a:rPr lang="en-US" dirty="0" smtClean="0"/>
              <a:t>Node.js).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small database to keep the </a:t>
            </a:r>
            <a:r>
              <a:rPr lang="en-US" dirty="0" smtClean="0"/>
              <a:t>codes (</a:t>
            </a:r>
            <a:r>
              <a:rPr lang="en-US" dirty="0" err="1" smtClean="0"/>
              <a:t>mongodb</a:t>
            </a:r>
            <a:r>
              <a:rPr lang="en-US" dirty="0" smtClean="0"/>
              <a:t>).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Open healthcare standards (FHIR) so any EMR can understand it.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Secure login with India’s ABHA ID </a:t>
            </a:r>
            <a:r>
              <a:rPr lang="en-US" dirty="0" smtClean="0"/>
              <a:t>system</a:t>
            </a:r>
            <a:r>
              <a:rPr lang="en-US" dirty="0"/>
              <a:t> </a:t>
            </a:r>
            <a:r>
              <a:rPr lang="en-US" dirty="0" smtClean="0"/>
              <a:t>(vision).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Regular sync with WHO for new ICD </a:t>
            </a:r>
            <a:r>
              <a:rPr lang="en-US" dirty="0" smtClean="0"/>
              <a:t>codes (</a:t>
            </a:r>
            <a:r>
              <a:rPr lang="en-US" dirty="0" err="1" smtClean="0"/>
              <a:t>vison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sz="2800" b="1" dirty="0"/>
              <a:t>How it will work (flow)</a:t>
            </a:r>
            <a:r>
              <a:rPr lang="en-US" sz="2800" dirty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Load the NAMASTE codes and WHO ICD-11 codes into our service.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Doctor searches or selects a diagnosis in </a:t>
            </a:r>
            <a:r>
              <a:rPr lang="en-US" dirty="0" err="1"/>
              <a:t>Ayush</a:t>
            </a:r>
            <a:r>
              <a:rPr lang="en-US" dirty="0"/>
              <a:t> terms.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service suggests the matching global codes.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Both codes are stored together in the patient’s record in the correct standard format.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Hospitals, insurers, and the government can use the data instantly.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15301"/>
            <a:ext cx="93853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Why this is practical</a:t>
            </a:r>
            <a:r>
              <a:rPr lang="en-US" sz="2800" dirty="0"/>
              <a:t>:</a:t>
            </a:r>
          </a:p>
          <a:p>
            <a:r>
              <a:rPr lang="en-US" dirty="0"/>
              <a:t>Uses already available codes and standards — we don’t reinvent the wheel.</a:t>
            </a:r>
          </a:p>
          <a:p>
            <a:r>
              <a:rPr lang="en-US" dirty="0"/>
              <a:t>Works as an add-on — no big changes to existing hospital software.</a:t>
            </a:r>
          </a:p>
          <a:p>
            <a:r>
              <a:rPr lang="en-US" dirty="0"/>
              <a:t>Open-source tools make it affordable.</a:t>
            </a:r>
          </a:p>
          <a:p>
            <a:r>
              <a:rPr lang="en-US" sz="2800" b="1" dirty="0"/>
              <a:t>Challenges</a:t>
            </a:r>
            <a:r>
              <a:rPr lang="en-US" sz="2800" dirty="0"/>
              <a:t>:</a:t>
            </a:r>
          </a:p>
          <a:p>
            <a:r>
              <a:rPr lang="en-US" dirty="0"/>
              <a:t>Getting the NAMASTE data may need ministry approval.</a:t>
            </a:r>
          </a:p>
          <a:p>
            <a:r>
              <a:rPr lang="en-US" dirty="0"/>
              <a:t>Some </a:t>
            </a:r>
            <a:r>
              <a:rPr lang="en-US" dirty="0" err="1"/>
              <a:t>Ayush</a:t>
            </a:r>
            <a:r>
              <a:rPr lang="en-US" dirty="0"/>
              <a:t> terms won’t match perfectly with ICD codes.</a:t>
            </a:r>
          </a:p>
          <a:p>
            <a:r>
              <a:rPr lang="en-US" sz="2800" b="1" dirty="0"/>
              <a:t>How we’ll handle them</a:t>
            </a:r>
            <a:r>
              <a:rPr lang="en-US" sz="2800" dirty="0"/>
              <a:t>:</a:t>
            </a:r>
          </a:p>
          <a:p>
            <a:r>
              <a:rPr lang="en-US" dirty="0"/>
              <a:t>Start with a pilot version on a small set of diseases.</a:t>
            </a:r>
          </a:p>
          <a:p>
            <a:r>
              <a:rPr lang="en-US" dirty="0"/>
              <a:t>Allow doctors to manually confirm or adjust mappings where needed.</a:t>
            </a:r>
          </a:p>
          <a:p>
            <a:r>
              <a:rPr lang="en-US" dirty="0"/>
              <a:t>Cache ICD codes locally so it works even if the WHO API is slow.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Impact</a:t>
            </a:r>
            <a:r>
              <a:rPr lang="en-US" sz="2800" dirty="0"/>
              <a:t>:</a:t>
            </a:r>
          </a:p>
          <a:p>
            <a:r>
              <a:rPr lang="en-US" dirty="0"/>
              <a:t>Brings </a:t>
            </a:r>
            <a:r>
              <a:rPr lang="en-US" dirty="0" err="1"/>
              <a:t>Ayush</a:t>
            </a:r>
            <a:r>
              <a:rPr lang="en-US" dirty="0"/>
              <a:t> care into modern digital health systems.</a:t>
            </a:r>
          </a:p>
          <a:p>
            <a:r>
              <a:rPr lang="en-US" dirty="0"/>
              <a:t>Makes insurance claims faster and smoother.</a:t>
            </a:r>
          </a:p>
          <a:p>
            <a:r>
              <a:rPr lang="en-US" dirty="0"/>
              <a:t>Helps the government track and improve </a:t>
            </a:r>
            <a:r>
              <a:rPr lang="en-US" dirty="0" err="1"/>
              <a:t>Ayush</a:t>
            </a:r>
            <a:r>
              <a:rPr lang="en-US" dirty="0"/>
              <a:t> services.</a:t>
            </a:r>
          </a:p>
          <a:p>
            <a:r>
              <a:rPr lang="en-US" sz="2800" b="1" dirty="0"/>
              <a:t>Benefits</a:t>
            </a:r>
            <a:r>
              <a:rPr lang="en-US" sz="2800" dirty="0"/>
              <a:t>:</a:t>
            </a:r>
          </a:p>
          <a:p>
            <a:r>
              <a:rPr lang="en-US" b="1" dirty="0"/>
              <a:t>For patients</a:t>
            </a:r>
            <a:r>
              <a:rPr lang="en-US" dirty="0"/>
              <a:t>: safer, better-connected care.</a:t>
            </a:r>
          </a:p>
          <a:p>
            <a:r>
              <a:rPr lang="en-US" b="1" dirty="0"/>
              <a:t>For doctors</a:t>
            </a:r>
            <a:r>
              <a:rPr lang="en-US" dirty="0"/>
              <a:t>: easier documentation and less manual coding.</a:t>
            </a:r>
          </a:p>
          <a:p>
            <a:r>
              <a:rPr lang="en-US" b="1" dirty="0"/>
              <a:t>For policy makers</a:t>
            </a:r>
            <a:r>
              <a:rPr lang="en-US" dirty="0"/>
              <a:t>: reliable data for better decisions.</a:t>
            </a:r>
          </a:p>
          <a:p>
            <a:r>
              <a:rPr lang="en-US" b="1" dirty="0"/>
              <a:t>For India</a:t>
            </a:r>
            <a:r>
              <a:rPr lang="en-US" dirty="0"/>
              <a:t>: leadership in integrating traditional medicine with global healthcare.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87202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NAMASTE (</a:t>
            </a:r>
            <a:r>
              <a:rPr lang="en-US" sz="2800" b="1" dirty="0" err="1"/>
              <a:t>Ayush</a:t>
            </a:r>
            <a:r>
              <a:rPr lang="en-US" sz="2800" b="1" dirty="0"/>
              <a:t> codes): </a:t>
            </a:r>
            <a:r>
              <a:rPr lang="en-US" sz="2800" dirty="0">
                <a:hlinkClick r:id="rId3"/>
              </a:rPr>
              <a:t>https://</a:t>
            </a:r>
            <a:r>
              <a:rPr lang="en-US" sz="2800" dirty="0" smtClean="0">
                <a:hlinkClick r:id="rId3"/>
              </a:rPr>
              <a:t>namaste.ayush.gov.in</a:t>
            </a:r>
            <a:endParaRPr lang="en-US" sz="2800" dirty="0"/>
          </a:p>
          <a:p>
            <a:r>
              <a:rPr lang="en-US" sz="2800" b="1" dirty="0"/>
              <a:t>WHO ICD-11 API: </a:t>
            </a:r>
            <a:r>
              <a:rPr lang="en-US" sz="2800" dirty="0">
                <a:hlinkClick r:id="rId4"/>
              </a:rPr>
              <a:t>https://icd.who.int/icdapi</a:t>
            </a:r>
            <a:endParaRPr lang="en-US" sz="2800" dirty="0"/>
          </a:p>
          <a:p>
            <a:r>
              <a:rPr lang="en-US" sz="2800" b="1" dirty="0"/>
              <a:t>India EHR Standards: </a:t>
            </a:r>
            <a:r>
              <a:rPr lang="en-US" sz="2800" dirty="0">
                <a:hlinkClick r:id="rId5"/>
              </a:rPr>
              <a:t>https</a:t>
            </a:r>
            <a:r>
              <a:rPr lang="en-US" sz="2800" dirty="0" smtClean="0">
                <a:hlinkClick r:id="rId5"/>
              </a:rPr>
              <a:t>://mohfw.gov.in</a:t>
            </a:r>
            <a:endParaRPr lang="en-US" sz="2800" dirty="0"/>
          </a:p>
          <a:p>
            <a:r>
              <a:rPr lang="en-US" sz="2800" b="1" dirty="0"/>
              <a:t>ABHA/ABDM developer sandbox: </a:t>
            </a:r>
            <a:r>
              <a:rPr lang="en-US" sz="2800" dirty="0">
                <a:hlinkClick r:id="rId6"/>
              </a:rPr>
              <a:t>https</a:t>
            </a:r>
            <a:r>
              <a:rPr lang="en-US" sz="2800" dirty="0" smtClean="0">
                <a:hlinkClick r:id="rId6"/>
              </a:rPr>
              <a:t>://abdm.gov.in</a:t>
            </a:r>
            <a:endParaRPr lang="en-US" sz="2800" dirty="0"/>
          </a:p>
          <a:p>
            <a:r>
              <a:rPr lang="en-US" sz="2800" b="1" dirty="0"/>
              <a:t>FHIR standard: </a:t>
            </a:r>
            <a:r>
              <a:rPr lang="en-US" sz="2800" dirty="0">
                <a:hlinkClick r:id="rId7"/>
              </a:rPr>
              <a:t>https://hl7.org/fhir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7544</TotalTime>
  <Words>602</Words>
  <Application>Microsoft Office PowerPoint</Application>
  <PresentationFormat>Custom</PresentationFormat>
  <Paragraphs>96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 Yadav</cp:lastModifiedBy>
  <cp:revision>152</cp:revision>
  <dcterms:created xsi:type="dcterms:W3CDTF">2013-12-12T18:46:50Z</dcterms:created>
  <dcterms:modified xsi:type="dcterms:W3CDTF">2025-09-04T15:36:56Z</dcterms:modified>
  <cp:category/>
</cp:coreProperties>
</file>